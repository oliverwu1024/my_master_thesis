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57" r:id="rId3"/>
    <p:sldId id="258" r:id="rId4"/>
    <p:sldId id="260" r:id="rId5"/>
    <p:sldId id="261" r:id="rId6"/>
    <p:sldId id="262" r:id="rId7"/>
    <p:sldId id="263" r:id="rId8"/>
    <p:sldId id="259"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p:cViewPr varScale="1">
        <p:scale>
          <a:sx n="92" d="100"/>
          <a:sy n="92" d="100"/>
        </p:scale>
        <p:origin x="295"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11C38D-3223-4ED4-BFD6-3E5F7294E41A}" type="datetimeFigureOut">
              <a:rPr lang="en-AU" smtClean="0"/>
              <a:t>7/11/2025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8A781-4274-43D5-8DC2-B2E37722413F}" type="slidenum">
              <a:rPr lang="en-AU" smtClean="0"/>
              <a:t>‹#›</a:t>
            </a:fld>
            <a:endParaRPr lang="en-AU"/>
          </a:p>
        </p:txBody>
      </p:sp>
    </p:spTree>
    <p:extLst>
      <p:ext uri="{BB962C8B-B14F-4D97-AF65-F5344CB8AC3E}">
        <p14:creationId xmlns:p14="http://schemas.microsoft.com/office/powerpoint/2010/main" val="1223434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first explain what Prior-Fitted Networks are and why they're interesting for forecasting.</a:t>
            </a:r>
          </a:p>
          <a:p>
            <a:endParaRPr lang="en-US" dirty="0"/>
          </a:p>
          <a:p>
            <a:r>
              <a:rPr lang="en-US" dirty="0"/>
              <a:t>In traditional machine learning, we train models on individual examples from a single dataset. Every time you encounter a new forecasting problem, you need to retrain the model, do hyperparameter tuning, and validation. This is time-consuming and computationally expensive.</a:t>
            </a:r>
          </a:p>
          <a:p>
            <a:endParaRPr lang="en-US" dirty="0"/>
          </a:p>
          <a:p>
            <a:r>
              <a:rPr lang="en-US" dirty="0"/>
              <a:t>Prior-Fitted Networks flip this paradigm. Instead of training on individual examples, PFNs train on </a:t>
            </a:r>
            <a:r>
              <a:rPr lang="en-US" i="1" dirty="0"/>
              <a:t>entire synthetic datasets</a:t>
            </a:r>
            <a:r>
              <a:rPr lang="en-US" dirty="0"/>
              <a:t> sampled from a prior distribution. You can design different priors based on different contexts.</a:t>
            </a:r>
          </a:p>
          <a:p>
            <a:endParaRPr lang="en-US" dirty="0"/>
          </a:p>
          <a:p>
            <a:r>
              <a:rPr lang="en-US" dirty="0"/>
              <a:t>At inference time, the PFN takes your historical data as context - similar to how large language models work with prompts - and makes predictions through in-context learning. No retraining needed, no parameter updates.</a:t>
            </a:r>
          </a:p>
          <a:p>
            <a:endParaRPr lang="en-US" dirty="0"/>
          </a:p>
          <a:p>
            <a:r>
              <a:rPr lang="en-US" dirty="0"/>
              <a:t>Why does this matter? Because it enables true zero-shot forecasting. Once trained, you can instantly deploy the model across any new domain without per-series fitting costs. This is particularly valuable when you have limited data or need to forecast across thousands of series.</a:t>
            </a:r>
          </a:p>
          <a:p>
            <a:r>
              <a:rPr lang="en-US" dirty="0"/>
              <a:t>Our research question is: </a:t>
            </a:r>
            <a:r>
              <a:rPr lang="en-US" b="1" dirty="0"/>
              <a:t>Does a Bayesian Time Series Model provide a better prior for PFNs in the context of time series forecasting?</a:t>
            </a:r>
            <a:r>
              <a:rPr lang="en-US" dirty="0"/>
              <a:t>"</a:t>
            </a:r>
          </a:p>
        </p:txBody>
      </p:sp>
      <p:sp>
        <p:nvSpPr>
          <p:cNvPr id="4" name="Slide Number Placeholder 3"/>
          <p:cNvSpPr>
            <a:spLocks noGrp="1"/>
          </p:cNvSpPr>
          <p:nvPr>
            <p:ph type="sldNum" sz="quarter" idx="5"/>
          </p:nvPr>
        </p:nvSpPr>
        <p:spPr/>
        <p:txBody>
          <a:bodyPr/>
          <a:lstStyle/>
          <a:p>
            <a:fld id="{E648A781-4274-43D5-8DC2-B2E37722413F}" type="slidenum">
              <a:rPr lang="en-AU" smtClean="0"/>
              <a:t>2</a:t>
            </a:fld>
            <a:endParaRPr lang="en-AU"/>
          </a:p>
        </p:txBody>
      </p:sp>
    </p:spTree>
    <p:extLst>
      <p:ext uri="{BB962C8B-B14F-4D97-AF65-F5344CB8AC3E}">
        <p14:creationId xmlns:p14="http://schemas.microsoft.com/office/powerpoint/2010/main" val="119396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our experimental process, which has three main stages.</a:t>
            </a:r>
          </a:p>
          <a:p>
            <a:endParaRPr lang="en-US" dirty="0"/>
          </a:p>
          <a:p>
            <a:r>
              <a:rPr lang="en-US" dirty="0"/>
              <a:t>First, we modified the Local and Global Trend model - LGT - to generate synthetic data. LGT is a Bayesian forecasting model that captures complex trend and seasonality patterns. We transformed it from a forecaster into a data generator by making the starting points and trend components random.</a:t>
            </a:r>
          </a:p>
          <a:p>
            <a:endParaRPr lang="en-US" dirty="0"/>
          </a:p>
          <a:p>
            <a:r>
              <a:rPr lang="en-US" dirty="0"/>
              <a:t>Here's what we did: We fit LGT to all 1,428 M3 monthly competition series. From each fitted model, we extracted the posterior parameter distributions and generated 100 synthetic series per original series. This gave us 142,800 diverse synthetic time series for training.</a:t>
            </a:r>
          </a:p>
          <a:p>
            <a:endParaRPr lang="en-US" dirty="0"/>
          </a:p>
          <a:p>
            <a:r>
              <a:rPr lang="en-US" dirty="0"/>
              <a:t>Second, we fed these synthetic datasets to train </a:t>
            </a:r>
            <a:r>
              <a:rPr lang="en-US" dirty="0" err="1"/>
              <a:t>ForecastPFN</a:t>
            </a:r>
            <a:r>
              <a:rPr lang="en-US" dirty="0"/>
              <a:t>. </a:t>
            </a:r>
            <a:r>
              <a:rPr lang="en-US" dirty="0" err="1"/>
              <a:t>ForecastPFN</a:t>
            </a:r>
            <a:r>
              <a:rPr lang="en-US" dirty="0"/>
              <a:t> is the first framework that applied Prior-Fitted Networks to time series forecasting, and it claims to achieve state-of-the-art performance.</a:t>
            </a:r>
          </a:p>
          <a:p>
            <a:endParaRPr lang="en-US" dirty="0"/>
          </a:p>
          <a:p>
            <a:r>
              <a:rPr lang="en-US" dirty="0"/>
              <a:t>Finally, we generated zero-shot predictions from our trained model on multiple benchmark datasets.</a:t>
            </a:r>
          </a:p>
          <a:p>
            <a:endParaRPr lang="en-US" dirty="0"/>
          </a:p>
          <a:p>
            <a:r>
              <a:rPr lang="en-US" dirty="0"/>
              <a:t>However - and this is crucial - we encountered serious issues when running the model, which became a major part of our findings</a:t>
            </a:r>
          </a:p>
        </p:txBody>
      </p:sp>
      <p:sp>
        <p:nvSpPr>
          <p:cNvPr id="4" name="Slide Number Placeholder 3"/>
          <p:cNvSpPr>
            <a:spLocks noGrp="1"/>
          </p:cNvSpPr>
          <p:nvPr>
            <p:ph type="sldNum" sz="quarter" idx="5"/>
          </p:nvPr>
        </p:nvSpPr>
        <p:spPr/>
        <p:txBody>
          <a:bodyPr/>
          <a:lstStyle/>
          <a:p>
            <a:fld id="{E648A781-4274-43D5-8DC2-B2E37722413F}" type="slidenum">
              <a:rPr lang="en-AU" smtClean="0"/>
              <a:t>3</a:t>
            </a:fld>
            <a:endParaRPr lang="en-AU"/>
          </a:p>
        </p:txBody>
      </p:sp>
    </p:spTree>
    <p:extLst>
      <p:ext uri="{BB962C8B-B14F-4D97-AF65-F5344CB8AC3E}">
        <p14:creationId xmlns:p14="http://schemas.microsoft.com/office/powerpoint/2010/main" val="315528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represents one of our most important contributions. When implementing </a:t>
            </a:r>
            <a:r>
              <a:rPr lang="en-US" dirty="0" err="1"/>
              <a:t>ForecastPFN</a:t>
            </a:r>
            <a:r>
              <a:rPr lang="en-US" dirty="0"/>
              <a:t>, we discovered multiple critical problems with the original approach.</a:t>
            </a:r>
          </a:p>
          <a:p>
            <a:endParaRPr lang="en-US" dirty="0"/>
          </a:p>
          <a:p>
            <a:r>
              <a:rPr lang="en-US" dirty="0"/>
              <a:t>First, there was scaling instability that led to training divergence and gradient explosion. The original 'robust scaler' implementation caused the training to fail.</a:t>
            </a:r>
          </a:p>
          <a:p>
            <a:endParaRPr lang="en-US" dirty="0"/>
          </a:p>
          <a:p>
            <a:r>
              <a:rPr lang="en-US" dirty="0"/>
              <a:t>Second, evaluation was performed on </a:t>
            </a:r>
            <a:r>
              <a:rPr lang="en-US" i="1" dirty="0" err="1"/>
              <a:t>normalised</a:t>
            </a:r>
            <a:r>
              <a:rPr lang="en-US" dirty="0"/>
              <a:t> data. This is a serious violation of forecasting standards because it hides true performance. A model might look good on normalized data but fail on actual scales that matter for decision-making.</a:t>
            </a:r>
          </a:p>
          <a:p>
            <a:endParaRPr lang="en-US" dirty="0"/>
          </a:p>
          <a:p>
            <a:r>
              <a:rPr lang="en-US" dirty="0"/>
              <a:t>Third, the original implementation tested on only a single randomly selected series per dataset rather than comprehensive evaluation across all series. This makes results completely unrepresentative.</a:t>
            </a:r>
          </a:p>
          <a:p>
            <a:endParaRPr lang="en-US" dirty="0"/>
          </a:p>
          <a:p>
            <a:r>
              <a:rPr lang="en-US" dirty="0"/>
              <a:t>And fourth, we observed persistent flat predictions - the model produces forecasts that are excessively smooth and fail to capture the variability in actual series.</a:t>
            </a:r>
          </a:p>
          <a:p>
            <a:endParaRPr lang="en-US" dirty="0"/>
          </a:p>
          <a:p>
            <a:r>
              <a:rPr lang="en-US" dirty="0"/>
              <a:t>We corrected what we could. We implemented proper max-scaling, evaluated on original-scale data, tested on complete datasets, and used proper scale-independent metrics like MASE and </a:t>
            </a:r>
            <a:r>
              <a:rPr lang="en-US" dirty="0" err="1"/>
              <a:t>sMAPE</a:t>
            </a:r>
            <a:r>
              <a:rPr lang="en-US" dirty="0"/>
              <a:t>.</a:t>
            </a:r>
          </a:p>
          <a:p>
            <a:endParaRPr lang="en-US" dirty="0"/>
          </a:p>
          <a:p>
            <a:r>
              <a:rPr lang="en-US" dirty="0"/>
              <a:t>The implications are significant. The original </a:t>
            </a:r>
            <a:r>
              <a:rPr lang="en-US" dirty="0" err="1"/>
              <a:t>ForecastPFN</a:t>
            </a:r>
            <a:r>
              <a:rPr lang="en-US" dirty="0"/>
              <a:t> results are likely invalid, and more broadly, this raises questions about rigor in PFN forecasting research.</a:t>
            </a:r>
          </a:p>
          <a:p>
            <a:r>
              <a:rPr lang="en-US" dirty="0"/>
              <a:t>You can see the problem clearly in these plots. On the left, M3 monthly predictions show some pattern changes, but on the right, M3 yearly predictions exhibit severe flatness - the forecasts are nearly horizontal lines while the actual data is highly volatile.</a:t>
            </a:r>
          </a:p>
        </p:txBody>
      </p:sp>
      <p:sp>
        <p:nvSpPr>
          <p:cNvPr id="4" name="Slide Number Placeholder 3"/>
          <p:cNvSpPr>
            <a:spLocks noGrp="1"/>
          </p:cNvSpPr>
          <p:nvPr>
            <p:ph type="sldNum" sz="quarter" idx="5"/>
          </p:nvPr>
        </p:nvSpPr>
        <p:spPr/>
        <p:txBody>
          <a:bodyPr/>
          <a:lstStyle/>
          <a:p>
            <a:fld id="{E648A781-4274-43D5-8DC2-B2E37722413F}" type="slidenum">
              <a:rPr lang="en-AU" smtClean="0"/>
              <a:t>4</a:t>
            </a:fld>
            <a:endParaRPr lang="en-AU"/>
          </a:p>
        </p:txBody>
      </p:sp>
    </p:spTree>
    <p:extLst>
      <p:ext uri="{BB962C8B-B14F-4D97-AF65-F5344CB8AC3E}">
        <p14:creationId xmlns:p14="http://schemas.microsoft.com/office/powerpoint/2010/main" val="1120179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results show mixed performance, which is actually quite informative given the architectural issues we just discussed.</a:t>
            </a:r>
          </a:p>
          <a:p>
            <a:endParaRPr lang="en-US" dirty="0"/>
          </a:p>
          <a:p>
            <a:r>
              <a:rPr lang="en-US" dirty="0"/>
              <a:t>On M3 Monthly - the data source we used to condition our LGT simulations - we came second in </a:t>
            </a:r>
            <a:r>
              <a:rPr lang="en-US" dirty="0" err="1"/>
              <a:t>sMAPE</a:t>
            </a:r>
            <a:r>
              <a:rPr lang="en-US" dirty="0"/>
              <a:t> but last in MASE. The model captures some patterns, but doesn't consistently outperform traditional methods even on this in-domain data.</a:t>
            </a:r>
          </a:p>
          <a:p>
            <a:endParaRPr lang="en-US" dirty="0"/>
          </a:p>
          <a:p>
            <a:r>
              <a:rPr lang="en-US" dirty="0"/>
              <a:t>On M3 Yearly, we came last in both metrics. The flatness issue we showed earlier definitely plays a major role here.</a:t>
            </a:r>
          </a:p>
          <a:p>
            <a:endParaRPr lang="en-US" dirty="0"/>
          </a:p>
          <a:p>
            <a:r>
              <a:rPr lang="en-US" dirty="0"/>
              <a:t>But here's where it gets interesting: On CIF 2016, we came </a:t>
            </a:r>
            <a:r>
              <a:rPr lang="en-US" i="1" dirty="0"/>
              <a:t>first</a:t>
            </a:r>
            <a:r>
              <a:rPr lang="en-US" dirty="0"/>
              <a:t> in MASE. This is a completely different dataset from M3, and our model outperformed </a:t>
            </a:r>
            <a:r>
              <a:rPr lang="en-US" dirty="0" err="1"/>
              <a:t>AutoETS</a:t>
            </a:r>
            <a:r>
              <a:rPr lang="en-US" dirty="0"/>
              <a:t>, </a:t>
            </a:r>
            <a:r>
              <a:rPr lang="en-US" dirty="0" err="1"/>
              <a:t>AutoARIMA</a:t>
            </a:r>
            <a:r>
              <a:rPr lang="en-US" dirty="0"/>
              <a:t>, and Seasonal Naive. This demonstrates that LGT-generated synthetic data CAN capture meaningful forecasting patterns and generalize to new domains when conditions align.</a:t>
            </a:r>
          </a:p>
          <a:p>
            <a:endParaRPr lang="en-US" dirty="0"/>
          </a:p>
          <a:p>
            <a:r>
              <a:rPr lang="en-US" dirty="0"/>
              <a:t>On other datasets like FRED-MD and Hospital, we performed better than Seasonal Naive on </a:t>
            </a:r>
            <a:r>
              <a:rPr lang="en-US" dirty="0" err="1"/>
              <a:t>sMAPE</a:t>
            </a:r>
            <a:r>
              <a:rPr lang="en-US" dirty="0"/>
              <a:t>, but poorly on MASE, showing inconsistent performance.</a:t>
            </a:r>
          </a:p>
          <a:p>
            <a:endParaRPr lang="en-US" dirty="0"/>
          </a:p>
          <a:p>
            <a:r>
              <a:rPr lang="en-US" dirty="0"/>
              <a:t>Critically, prediction speed was within seconds per series across all datasets, proving that true zero-shot inference is achieved. Once trained, the model applies instantly without any fitting.</a:t>
            </a:r>
          </a:p>
          <a:p>
            <a:endParaRPr lang="en-US" dirty="0"/>
          </a:p>
          <a:p>
            <a:r>
              <a:rPr lang="en-US" dirty="0"/>
              <a:t>So what we have is proof of concept - the approach works in specific cases - but architectural limitations prevent consistent performance.</a:t>
            </a:r>
          </a:p>
          <a:p>
            <a:endParaRPr lang="en-AU" dirty="0"/>
          </a:p>
        </p:txBody>
      </p:sp>
      <p:sp>
        <p:nvSpPr>
          <p:cNvPr id="4" name="Slide Number Placeholder 3"/>
          <p:cNvSpPr>
            <a:spLocks noGrp="1"/>
          </p:cNvSpPr>
          <p:nvPr>
            <p:ph type="sldNum" sz="quarter" idx="5"/>
          </p:nvPr>
        </p:nvSpPr>
        <p:spPr/>
        <p:txBody>
          <a:bodyPr/>
          <a:lstStyle/>
          <a:p>
            <a:fld id="{E648A781-4274-43D5-8DC2-B2E37722413F}" type="slidenum">
              <a:rPr lang="en-AU" smtClean="0"/>
              <a:t>5</a:t>
            </a:fld>
            <a:endParaRPr lang="en-AU"/>
          </a:p>
        </p:txBody>
      </p:sp>
    </p:spTree>
    <p:extLst>
      <p:ext uri="{BB962C8B-B14F-4D97-AF65-F5344CB8AC3E}">
        <p14:creationId xmlns:p14="http://schemas.microsoft.com/office/powerpoint/2010/main" val="3382558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interpret these results. We can confidently say that LGT-generated synthetic data CAN capture meaningful forecasting patterns. Our win on CIF 2016 proves this.</a:t>
            </a:r>
          </a:p>
          <a:p>
            <a:endParaRPr lang="en-US" dirty="0"/>
          </a:p>
          <a:p>
            <a:r>
              <a:rPr lang="en-US" dirty="0"/>
              <a:t>However, there's a major confound in our assessment. We cannot definitively say whether LGT is an effective prior because of the persistent architectural issues. The flatness problem suggests </a:t>
            </a:r>
            <a:r>
              <a:rPr lang="en-US" dirty="0" err="1"/>
              <a:t>ForecastPFN's</a:t>
            </a:r>
            <a:r>
              <a:rPr lang="en-US" dirty="0"/>
              <a:t> limitations, not necessarily inadequacy of our LGT-based prior.</a:t>
            </a:r>
          </a:p>
          <a:p>
            <a:endParaRPr lang="en-US" dirty="0"/>
          </a:p>
          <a:p>
            <a:r>
              <a:rPr lang="en-US" dirty="0"/>
              <a:t>The key question that remains is: Is the poor performance due to LGT failing as a prior, or due to the architecture being fundamentally limited? We can't fully separate these factors.</a:t>
            </a:r>
          </a:p>
          <a:p>
            <a:endParaRPr lang="en-US" dirty="0"/>
          </a:p>
          <a:p>
            <a:r>
              <a:rPr lang="en-US" dirty="0"/>
              <a:t>But our work still makes important broader contributions. First, it questions the validity of existing PFN forecasting literature - if the original implementation had these problems, what does that mean for published results?</a:t>
            </a:r>
          </a:p>
          <a:p>
            <a:endParaRPr lang="en-US" dirty="0"/>
          </a:p>
          <a:p>
            <a:r>
              <a:rPr lang="en-US" dirty="0"/>
              <a:t>Second, we've established a rigorous evaluation methodology that future researchers can follow.</a:t>
            </a:r>
          </a:p>
          <a:p>
            <a:endParaRPr lang="en-US" dirty="0"/>
          </a:p>
          <a:p>
            <a:r>
              <a:rPr lang="en-US" dirty="0"/>
              <a:t>Third, we've demonstrated the complete feasibility of this pipeline: Bayesian model to synthetic data to PFN. The concept works.</a:t>
            </a:r>
          </a:p>
          <a:p>
            <a:r>
              <a:rPr lang="en-US" dirty="0"/>
              <a:t>And fourth, we've shown real-world value - zero-shot forecasting is crucial for data-scarce domains like new products, emerging markets, or rare events.</a:t>
            </a:r>
          </a:p>
          <a:p>
            <a:endParaRPr lang="en-US" dirty="0"/>
          </a:p>
          <a:p>
            <a:r>
              <a:rPr lang="en-US" dirty="0"/>
              <a:t>For future directions, we need architectures specifically designed for LGT characteristics. We should incorporate diverse source datasets beyond just M3 monthly. We could extend to probabilistic forecasts to leverage the full Bayesian distributions. And we should explore alternative priors and ensemble approaches.</a:t>
            </a:r>
          </a:p>
          <a:p>
            <a:endParaRPr lang="en-AU" dirty="0"/>
          </a:p>
        </p:txBody>
      </p:sp>
      <p:sp>
        <p:nvSpPr>
          <p:cNvPr id="4" name="Slide Number Placeholder 3"/>
          <p:cNvSpPr>
            <a:spLocks noGrp="1"/>
          </p:cNvSpPr>
          <p:nvPr>
            <p:ph type="sldNum" sz="quarter" idx="5"/>
          </p:nvPr>
        </p:nvSpPr>
        <p:spPr/>
        <p:txBody>
          <a:bodyPr/>
          <a:lstStyle/>
          <a:p>
            <a:fld id="{E648A781-4274-43D5-8DC2-B2E37722413F}" type="slidenum">
              <a:rPr lang="en-AU" smtClean="0"/>
              <a:t>6</a:t>
            </a:fld>
            <a:endParaRPr lang="en-AU"/>
          </a:p>
        </p:txBody>
      </p:sp>
    </p:spTree>
    <p:extLst>
      <p:ext uri="{BB962C8B-B14F-4D97-AF65-F5344CB8AC3E}">
        <p14:creationId xmlns:p14="http://schemas.microsoft.com/office/powerpoint/2010/main" val="2035113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want to emphasize four key points.</a:t>
            </a:r>
          </a:p>
          <a:p>
            <a:r>
              <a:rPr lang="en-US" dirty="0"/>
              <a:t>First, PFNs offer a promising paradigm for zero-shot forecasting. The in-context learning approach is fundamentally sound.</a:t>
            </a:r>
          </a:p>
          <a:p>
            <a:endParaRPr lang="en-US" dirty="0"/>
          </a:p>
          <a:p>
            <a:r>
              <a:rPr lang="en-US" dirty="0"/>
              <a:t>Second, LGT </a:t>
            </a:r>
            <a:r>
              <a:rPr lang="en-US" i="1" dirty="0"/>
              <a:t>can</a:t>
            </a:r>
            <a:r>
              <a:rPr lang="en-US" dirty="0"/>
              <a:t> generate realistic synthetic training data. We've proven that Bayesian models can condition synthetic data generation on real-world patterns.</a:t>
            </a:r>
          </a:p>
          <a:p>
            <a:endParaRPr lang="en-US" dirty="0"/>
          </a:p>
          <a:p>
            <a:r>
              <a:rPr lang="en-US" dirty="0"/>
              <a:t>Third, our mixed results are due to architectural confounds, not concept failure. The flatness issue and implementation problems we identified prevent us from fully assessing the approach, but the successes we achieved - particularly on CIF 2016 - demonstrate feasibility.</a:t>
            </a:r>
          </a:p>
          <a:p>
            <a:endParaRPr lang="en-US" dirty="0"/>
          </a:p>
          <a:p>
            <a:r>
              <a:rPr lang="en-US" dirty="0"/>
              <a:t>And fourth, we've established a foundation for rigorous PFN forecasting research. By identifying and correcting critical methodological flaws, we've cleared the path for future work.</a:t>
            </a:r>
          </a:p>
          <a:p>
            <a:endParaRPr lang="en-US" dirty="0"/>
          </a:p>
          <a:p>
            <a:r>
              <a:rPr lang="en-US" dirty="0"/>
              <a:t>The bottom line: We've shown the approach works in principle and identified exactly what needs to be fixed for it to work consistently. This is foundational work that future researchers can build upon with confidence in the methodology.</a:t>
            </a:r>
          </a:p>
          <a:p>
            <a:endParaRPr lang="en-AU" dirty="0"/>
          </a:p>
        </p:txBody>
      </p:sp>
      <p:sp>
        <p:nvSpPr>
          <p:cNvPr id="4" name="Slide Number Placeholder 3"/>
          <p:cNvSpPr>
            <a:spLocks noGrp="1"/>
          </p:cNvSpPr>
          <p:nvPr>
            <p:ph type="sldNum" sz="quarter" idx="5"/>
          </p:nvPr>
        </p:nvSpPr>
        <p:spPr/>
        <p:txBody>
          <a:bodyPr/>
          <a:lstStyle/>
          <a:p>
            <a:fld id="{E648A781-4274-43D5-8DC2-B2E37722413F}" type="slidenum">
              <a:rPr lang="en-AU" smtClean="0"/>
              <a:t>7</a:t>
            </a:fld>
            <a:endParaRPr lang="en-AU"/>
          </a:p>
        </p:txBody>
      </p:sp>
    </p:spTree>
    <p:extLst>
      <p:ext uri="{BB962C8B-B14F-4D97-AF65-F5344CB8AC3E}">
        <p14:creationId xmlns:p14="http://schemas.microsoft.com/office/powerpoint/2010/main" val="3441639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E5374A-03C2-4A70-8953-C4251605D51F}" type="datetimeFigureOut">
              <a:rPr lang="en-AU" smtClean="0"/>
              <a:t>7/11/2025</a:t>
            </a:fld>
            <a:endParaRPr lang="en-AU"/>
          </a:p>
        </p:txBody>
      </p:sp>
      <p:sp>
        <p:nvSpPr>
          <p:cNvPr id="5" name="Footer Placeholder 4"/>
          <p:cNvSpPr>
            <a:spLocks noGrp="1"/>
          </p:cNvSpPr>
          <p:nvPr>
            <p:ph type="ftr" sz="quarter" idx="11"/>
          </p:nvPr>
        </p:nvSpPr>
        <p:spPr>
          <a:xfrm>
            <a:off x="2416500" y="329307"/>
            <a:ext cx="4973915" cy="309201"/>
          </a:xfrm>
        </p:spPr>
        <p:txBody>
          <a:bodyPr/>
          <a:lstStyle/>
          <a:p>
            <a:endParaRPr lang="en-AU"/>
          </a:p>
        </p:txBody>
      </p:sp>
      <p:sp>
        <p:nvSpPr>
          <p:cNvPr id="6" name="Slide Number Placeholder 5"/>
          <p:cNvSpPr>
            <a:spLocks noGrp="1"/>
          </p:cNvSpPr>
          <p:nvPr>
            <p:ph type="sldNum" sz="quarter" idx="12"/>
          </p:nvPr>
        </p:nvSpPr>
        <p:spPr>
          <a:xfrm>
            <a:off x="1437664" y="798973"/>
            <a:ext cx="811019" cy="503578"/>
          </a:xfrm>
        </p:spPr>
        <p:txBody>
          <a:bodyPr/>
          <a:lstStyle/>
          <a:p>
            <a:fld id="{59A5F98F-7CBA-451F-A1FE-AB90B721F71E}" type="slidenum">
              <a:rPr lang="en-AU" smtClean="0"/>
              <a:t>‹#›</a:t>
            </a:fld>
            <a:endParaRPr lang="en-AU"/>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14010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E5374A-03C2-4A70-8953-C4251605D51F}" type="datetimeFigureOut">
              <a:rPr lang="en-AU" smtClean="0"/>
              <a:t>7/11/2025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9A5F98F-7CBA-451F-A1FE-AB90B721F71E}" type="slidenum">
              <a:rPr lang="en-AU" smtClean="0"/>
              <a:t>‹#›</a:t>
            </a:fld>
            <a:endParaRPr lang="en-AU"/>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63640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E5374A-03C2-4A70-8953-C4251605D51F}" type="datetimeFigureOut">
              <a:rPr lang="en-AU" smtClean="0"/>
              <a:t>7/11/2025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9A5F98F-7CBA-451F-A1FE-AB90B721F71E}" type="slidenum">
              <a:rPr lang="en-AU" smtClean="0"/>
              <a:t>‹#›</a:t>
            </a:fld>
            <a:endParaRPr lang="en-AU"/>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34036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E5374A-03C2-4A70-8953-C4251605D51F}" type="datetimeFigureOut">
              <a:rPr lang="en-AU" smtClean="0"/>
              <a:t>7/11/2025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9A5F98F-7CBA-451F-A1FE-AB90B721F71E}" type="slidenum">
              <a:rPr lang="en-AU" smtClean="0"/>
              <a:t>‹#›</a:t>
            </a:fld>
            <a:endParaRPr lang="en-AU"/>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23288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E5374A-03C2-4A70-8953-C4251605D51F}" type="datetimeFigureOut">
              <a:rPr lang="en-AU" smtClean="0"/>
              <a:t>7/11/2025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59A5F98F-7CBA-451F-A1FE-AB90B721F71E}" type="slidenum">
              <a:rPr lang="en-AU" smtClean="0"/>
              <a:t>‹#›</a:t>
            </a:fld>
            <a:endParaRPr lang="en-AU"/>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17871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E5374A-03C2-4A70-8953-C4251605D51F}" type="datetimeFigureOut">
              <a:rPr lang="en-AU" smtClean="0"/>
              <a:t>7/11/2025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59A5F98F-7CBA-451F-A1FE-AB90B721F71E}" type="slidenum">
              <a:rPr lang="en-AU" smtClean="0"/>
              <a:t>‹#›</a:t>
            </a:fld>
            <a:endParaRPr lang="en-AU"/>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70108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E5374A-03C2-4A70-8953-C4251605D51F}" type="datetimeFigureOut">
              <a:rPr lang="en-AU" smtClean="0"/>
              <a:t>7/11/2025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59A5F98F-7CBA-451F-A1FE-AB90B721F71E}" type="slidenum">
              <a:rPr lang="en-AU" smtClean="0"/>
              <a:t>‹#›</a:t>
            </a:fld>
            <a:endParaRPr lang="en-AU"/>
          </a:p>
        </p:txBody>
      </p:sp>
    </p:spTree>
    <p:extLst>
      <p:ext uri="{BB962C8B-B14F-4D97-AF65-F5344CB8AC3E}">
        <p14:creationId xmlns:p14="http://schemas.microsoft.com/office/powerpoint/2010/main" val="414930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E5374A-03C2-4A70-8953-C4251605D51F}" type="datetimeFigureOut">
              <a:rPr lang="en-AU" smtClean="0"/>
              <a:t>7/11/2025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9A5F98F-7CBA-451F-A1FE-AB90B721F71E}" type="slidenum">
              <a:rPr lang="en-AU" smtClean="0"/>
              <a:t>‹#›</a:t>
            </a:fld>
            <a:endParaRPr lang="en-AU"/>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95091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DE5374A-03C2-4A70-8953-C4251605D51F}" type="datetimeFigureOut">
              <a:rPr lang="en-AU" smtClean="0"/>
              <a:t>7/11/2025</a:t>
            </a:fld>
            <a:endParaRPr lang="en-AU"/>
          </a:p>
        </p:txBody>
      </p:sp>
      <p:sp>
        <p:nvSpPr>
          <p:cNvPr id="6" name="Footer Placeholder 5"/>
          <p:cNvSpPr>
            <a:spLocks noGrp="1"/>
          </p:cNvSpPr>
          <p:nvPr>
            <p:ph type="ftr" sz="quarter" idx="11"/>
          </p:nvPr>
        </p:nvSpPr>
        <p:spPr>
          <a:xfrm>
            <a:off x="1447382" y="318640"/>
            <a:ext cx="5541004" cy="320931"/>
          </a:xfrm>
        </p:spPr>
        <p:txBody>
          <a:bodyPr/>
          <a:lstStyle/>
          <a:p>
            <a:endParaRPr lang="en-AU"/>
          </a:p>
        </p:txBody>
      </p:sp>
      <p:sp>
        <p:nvSpPr>
          <p:cNvPr id="7" name="Slide Number Placeholder 6"/>
          <p:cNvSpPr>
            <a:spLocks noGrp="1"/>
          </p:cNvSpPr>
          <p:nvPr>
            <p:ph type="sldNum" sz="quarter" idx="12"/>
          </p:nvPr>
        </p:nvSpPr>
        <p:spPr/>
        <p:txBody>
          <a:bodyPr/>
          <a:lstStyle/>
          <a:p>
            <a:fld id="{59A5F98F-7CBA-451F-A1FE-AB90B721F71E}" type="slidenum">
              <a:rPr lang="en-AU" smtClean="0"/>
              <a:t>‹#›</a:t>
            </a:fld>
            <a:endParaRPr lang="en-AU"/>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46518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E5374A-03C2-4A70-8953-C4251605D51F}" type="datetimeFigureOut">
              <a:rPr lang="en-AU" smtClean="0"/>
              <a:t>7/11/2025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9A5F98F-7CBA-451F-A1FE-AB90B721F71E}" type="slidenum">
              <a:rPr lang="en-AU" smtClean="0"/>
              <a:t>‹#›</a:t>
            </a:fld>
            <a:endParaRPr lang="en-AU"/>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92685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E5374A-03C2-4A70-8953-C4251605D51F}" type="datetimeFigureOut">
              <a:rPr lang="en-AU" smtClean="0"/>
              <a:t>7/11/2025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9A5F98F-7CBA-451F-A1FE-AB90B721F71E}" type="slidenum">
              <a:rPr lang="en-AU" smtClean="0"/>
              <a:t>‹#›</a:t>
            </a:fld>
            <a:endParaRPr lang="en-AU"/>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82243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DE5374A-03C2-4A70-8953-C4251605D51F}" type="datetimeFigureOut">
              <a:rPr lang="en-AU" smtClean="0"/>
              <a:t>7/11/2025</a:t>
            </a:fld>
            <a:endParaRPr lang="en-AU"/>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9A5F98F-7CBA-451F-A1FE-AB90B721F71E}" type="slidenum">
              <a:rPr lang="en-AU" smtClean="0"/>
              <a:t>‹#›</a:t>
            </a:fld>
            <a:endParaRPr lang="en-AU"/>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76153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arxiv.org/abs/2311.01933"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DD424-70CB-6ED9-7C35-9521AF03C747}"/>
              </a:ext>
            </a:extLst>
          </p:cNvPr>
          <p:cNvSpPr>
            <a:spLocks noGrp="1"/>
          </p:cNvSpPr>
          <p:nvPr>
            <p:ph type="ctrTitle"/>
          </p:nvPr>
        </p:nvSpPr>
        <p:spPr/>
        <p:txBody>
          <a:bodyPr>
            <a:normAutofit/>
          </a:bodyPr>
          <a:lstStyle/>
          <a:p>
            <a:r>
              <a:rPr lang="en-US" sz="2800" cap="none" dirty="0">
                <a:latin typeface="Arial" panose="020B0604020202020204" pitchFamily="34" charset="0"/>
                <a:cs typeface="Arial" panose="020B0604020202020204" pitchFamily="34" charset="0"/>
              </a:rPr>
              <a:t>Combining Full Bayesian Inference With Prior-fitted Networks For Time Series Forecasting</a:t>
            </a:r>
            <a:endParaRPr lang="en-AU" sz="2800" cap="none"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B25B4F58-362C-059F-1C1C-EAAD7078FD0C}"/>
              </a:ext>
            </a:extLst>
          </p:cNvPr>
          <p:cNvSpPr>
            <a:spLocks noGrp="1"/>
          </p:cNvSpPr>
          <p:nvPr>
            <p:ph type="subTitle" idx="1"/>
          </p:nvPr>
        </p:nvSpPr>
        <p:spPr>
          <a:xfrm>
            <a:off x="2417780" y="3531204"/>
            <a:ext cx="8637072" cy="2167171"/>
          </a:xfrm>
        </p:spPr>
        <p:txBody>
          <a:bodyPr>
            <a:normAutofit fontScale="92500" lnSpcReduction="10000"/>
          </a:bodyPr>
          <a:lstStyle/>
          <a:p>
            <a:r>
              <a:rPr lang="en-AU" cap="none" dirty="0">
                <a:latin typeface="Arial" panose="020B0604020202020204" pitchFamily="34" charset="0"/>
                <a:cs typeface="Arial" panose="020B0604020202020204" pitchFamily="34" charset="0"/>
              </a:rPr>
              <a:t>Che-Yu Wu 31977251</a:t>
            </a:r>
          </a:p>
          <a:p>
            <a:r>
              <a:rPr lang="en-AU" cap="none" dirty="0">
                <a:latin typeface="Arial" panose="020B0604020202020204" pitchFamily="34" charset="0"/>
                <a:cs typeface="Arial" panose="020B0604020202020204" pitchFamily="34" charset="0"/>
              </a:rPr>
              <a:t>Supervisors:</a:t>
            </a:r>
          </a:p>
          <a:p>
            <a:r>
              <a:rPr lang="en-AU" cap="none" dirty="0">
                <a:latin typeface="Arial" panose="020B0604020202020204" pitchFamily="34" charset="0"/>
                <a:cs typeface="Arial" panose="020B0604020202020204" pitchFamily="34" charset="0"/>
              </a:rPr>
              <a:t>Dr. Angus Dempster</a:t>
            </a:r>
          </a:p>
          <a:p>
            <a:r>
              <a:rPr lang="en-AU" cap="none" dirty="0">
                <a:latin typeface="Arial" panose="020B0604020202020204" pitchFamily="34" charset="0"/>
                <a:cs typeface="Arial" panose="020B0604020202020204" pitchFamily="34" charset="0"/>
              </a:rPr>
              <a:t>Dr. Christoph </a:t>
            </a:r>
            <a:r>
              <a:rPr lang="en-AU" cap="none" dirty="0" err="1">
                <a:latin typeface="Arial" panose="020B0604020202020204" pitchFamily="34" charset="0"/>
                <a:cs typeface="Arial" panose="020B0604020202020204" pitchFamily="34" charset="0"/>
              </a:rPr>
              <a:t>Bergmeir</a:t>
            </a:r>
            <a:endParaRPr lang="en-AU" cap="none" dirty="0">
              <a:latin typeface="Arial" panose="020B0604020202020204" pitchFamily="34" charset="0"/>
              <a:cs typeface="Arial" panose="020B0604020202020204" pitchFamily="34" charset="0"/>
            </a:endParaRPr>
          </a:p>
          <a:p>
            <a:r>
              <a:rPr lang="en-AU" cap="none" dirty="0">
                <a:latin typeface="Arial" panose="020B0604020202020204" pitchFamily="34" charset="0"/>
                <a:cs typeface="Arial" panose="020B0604020202020204" pitchFamily="34" charset="0"/>
              </a:rPr>
              <a:t>Prof. Daniel Schmidt</a:t>
            </a:r>
          </a:p>
        </p:txBody>
      </p:sp>
      <p:pic>
        <p:nvPicPr>
          <p:cNvPr id="7" name="Picture 6" descr="A black text on a white background&#10;&#10;AI-generated content may be incorrect.">
            <a:extLst>
              <a:ext uri="{FF2B5EF4-FFF2-40B4-BE49-F238E27FC236}">
                <a16:creationId xmlns:a16="http://schemas.microsoft.com/office/drawing/2014/main" id="{7FEB824D-497B-ED32-334F-5DFE90D2D4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3924" y="646549"/>
            <a:ext cx="7199376" cy="1426464"/>
          </a:xfrm>
          <a:prstGeom prst="rect">
            <a:avLst/>
          </a:prstGeom>
        </p:spPr>
      </p:pic>
    </p:spTree>
    <p:extLst>
      <p:ext uri="{BB962C8B-B14F-4D97-AF65-F5344CB8AC3E}">
        <p14:creationId xmlns:p14="http://schemas.microsoft.com/office/powerpoint/2010/main" val="2561120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693D4-AD31-06C9-CFDB-FC0D49E6009E}"/>
              </a:ext>
            </a:extLst>
          </p:cNvPr>
          <p:cNvSpPr>
            <a:spLocks noGrp="1"/>
          </p:cNvSpPr>
          <p:nvPr>
            <p:ph type="title" idx="4294967295"/>
          </p:nvPr>
        </p:nvSpPr>
        <p:spPr>
          <a:xfrm>
            <a:off x="2136371" y="171943"/>
            <a:ext cx="9602788" cy="1049337"/>
          </a:xfrm>
        </p:spPr>
        <p:txBody>
          <a:bodyPr/>
          <a:lstStyle/>
          <a:p>
            <a:r>
              <a:rPr lang="en-AU" cap="none" dirty="0">
                <a:latin typeface="Arial" panose="020B0604020202020204" pitchFamily="34" charset="0"/>
                <a:cs typeface="Arial" panose="020B0604020202020204" pitchFamily="34" charset="0"/>
              </a:rPr>
              <a:t>What Is Prior-fitted Network &amp;</a:t>
            </a:r>
            <a:br>
              <a:rPr lang="en-AU" cap="none" dirty="0">
                <a:latin typeface="Arial" panose="020B0604020202020204" pitchFamily="34" charset="0"/>
                <a:cs typeface="Arial" panose="020B0604020202020204" pitchFamily="34" charset="0"/>
              </a:rPr>
            </a:br>
            <a:r>
              <a:rPr lang="en-AU" cap="none" dirty="0">
                <a:latin typeface="Arial" panose="020B0604020202020204" pitchFamily="34" charset="0"/>
                <a:cs typeface="Arial" panose="020B0604020202020204" pitchFamily="34" charset="0"/>
              </a:rPr>
              <a:t>Why It Matters?</a:t>
            </a:r>
          </a:p>
        </p:txBody>
      </p:sp>
      <p:sp>
        <p:nvSpPr>
          <p:cNvPr id="3" name="Content Placeholder 2">
            <a:extLst>
              <a:ext uri="{FF2B5EF4-FFF2-40B4-BE49-F238E27FC236}">
                <a16:creationId xmlns:a16="http://schemas.microsoft.com/office/drawing/2014/main" id="{9905FFC2-4C7E-B54D-B950-71B1CB313432}"/>
              </a:ext>
            </a:extLst>
          </p:cNvPr>
          <p:cNvSpPr>
            <a:spLocks noGrp="1"/>
          </p:cNvSpPr>
          <p:nvPr>
            <p:ph idx="4294967295"/>
          </p:nvPr>
        </p:nvSpPr>
        <p:spPr>
          <a:xfrm>
            <a:off x="1849583" y="1157724"/>
            <a:ext cx="6812252" cy="5031102"/>
          </a:xfrm>
        </p:spPr>
        <p:txBody>
          <a:bodyPr>
            <a:normAutofit fontScale="55000" lnSpcReduction="20000"/>
          </a:bodyPr>
          <a:lstStyle/>
          <a:p>
            <a:pPr marL="0" indent="0">
              <a:buNone/>
            </a:pPr>
            <a:r>
              <a:rPr lang="en-AU" sz="2500" dirty="0">
                <a:latin typeface="Arial" panose="020B0604020202020204" pitchFamily="34" charset="0"/>
                <a:cs typeface="Arial" panose="020B0604020202020204" pitchFamily="34" charset="0"/>
              </a:rPr>
              <a:t>Traditional Machine Learning:</a:t>
            </a:r>
          </a:p>
          <a:p>
            <a:r>
              <a:rPr lang="en-AU" sz="2400" dirty="0">
                <a:latin typeface="Arial" panose="020B0604020202020204" pitchFamily="34" charset="0"/>
                <a:cs typeface="Arial" panose="020B0604020202020204" pitchFamily="34" charset="0"/>
              </a:rPr>
              <a:t>Trains on examples from a single dataset.</a:t>
            </a:r>
          </a:p>
          <a:p>
            <a:r>
              <a:rPr lang="en-AU" sz="2400" dirty="0">
                <a:latin typeface="Arial" panose="020B0604020202020204" pitchFamily="34" charset="0"/>
                <a:cs typeface="Arial" panose="020B0604020202020204" pitchFamily="34" charset="0"/>
              </a:rPr>
              <a:t>Must retrain or fine-tune for each new dataset.</a:t>
            </a:r>
          </a:p>
          <a:p>
            <a:r>
              <a:rPr lang="en-AU" sz="2400" dirty="0">
                <a:latin typeface="Arial" panose="020B0604020202020204" pitchFamily="34" charset="0"/>
                <a:cs typeface="Arial" panose="020B0604020202020204" pitchFamily="34" charset="0"/>
              </a:rPr>
              <a:t>Requires either fitting, validation, hyperparameter tuning per task.</a:t>
            </a:r>
          </a:p>
          <a:p>
            <a:pPr marL="0" indent="0">
              <a:buNone/>
            </a:pPr>
            <a:r>
              <a:rPr lang="en-AU" sz="2600" dirty="0">
                <a:latin typeface="Arial" panose="020B0604020202020204" pitchFamily="34" charset="0"/>
                <a:cs typeface="Arial" panose="020B0604020202020204" pitchFamily="34" charset="0"/>
              </a:rPr>
              <a:t>Prior-Fitted Networks (PFNs): </a:t>
            </a:r>
          </a:p>
          <a:p>
            <a:r>
              <a:rPr lang="en-AU" sz="2400" dirty="0">
                <a:latin typeface="Arial" panose="020B0604020202020204" pitchFamily="34" charset="0"/>
                <a:cs typeface="Arial" panose="020B0604020202020204" pitchFamily="34" charset="0"/>
              </a:rPr>
              <a:t>Train on entire synthetic datasets from a prior distribution.</a:t>
            </a:r>
          </a:p>
          <a:p>
            <a:r>
              <a:rPr lang="en-AU" sz="2400" dirty="0">
                <a:latin typeface="Arial" panose="020B0604020202020204" pitchFamily="34" charset="0"/>
                <a:cs typeface="Arial" panose="020B0604020202020204" pitchFamily="34" charset="0"/>
              </a:rPr>
              <a:t>Can design different priors based on different context.</a:t>
            </a:r>
          </a:p>
          <a:p>
            <a:r>
              <a:rPr lang="en-AU" sz="2400" dirty="0">
                <a:latin typeface="Arial" panose="020B0604020202020204" pitchFamily="34" charset="0"/>
                <a:cs typeface="Arial" panose="020B0604020202020204" pitchFamily="34" charset="0"/>
              </a:rPr>
              <a:t>At inference: Takes the training data as context only </a:t>
            </a:r>
            <a:r>
              <a:rPr lang="en-AU" sz="2400" b="1" dirty="0">
                <a:latin typeface="Arial" panose="020B0604020202020204" pitchFamily="34" charset="0"/>
                <a:cs typeface="Arial" panose="020B0604020202020204" pitchFamily="34" charset="0"/>
              </a:rPr>
              <a:t>without further training</a:t>
            </a:r>
            <a:r>
              <a:rPr lang="en-AU" sz="2400" dirty="0">
                <a:latin typeface="Arial" panose="020B0604020202020204" pitchFamily="34" charset="0"/>
                <a:cs typeface="Arial" panose="020B0604020202020204" pitchFamily="34" charset="0"/>
              </a:rPr>
              <a:t>.</a:t>
            </a:r>
          </a:p>
          <a:p>
            <a:r>
              <a:rPr lang="en-AU" sz="2400" dirty="0">
                <a:latin typeface="Arial" panose="020B0604020202020204" pitchFamily="34" charset="0"/>
                <a:cs typeface="Arial" panose="020B0604020202020204" pitchFamily="34" charset="0"/>
              </a:rPr>
              <a:t>Makes predictions via in-context learning (like LLMs with prompts).</a:t>
            </a:r>
          </a:p>
          <a:p>
            <a:pPr marL="0" indent="0">
              <a:buNone/>
            </a:pPr>
            <a:r>
              <a:rPr lang="en-US" sz="2500" dirty="0">
                <a:latin typeface="Arial" panose="020B0604020202020204" pitchFamily="34" charset="0"/>
                <a:cs typeface="Arial" panose="020B0604020202020204" pitchFamily="34" charset="0"/>
              </a:rPr>
              <a:t>Why This Matters:</a:t>
            </a:r>
          </a:p>
          <a:p>
            <a:r>
              <a:rPr lang="en-US" sz="2400" dirty="0">
                <a:latin typeface="Arial" panose="020B0604020202020204" pitchFamily="34" charset="0"/>
                <a:cs typeface="Arial" panose="020B0604020202020204" pitchFamily="34" charset="0"/>
              </a:rPr>
              <a:t>True zero-shot forecasting on unseen series.</a:t>
            </a:r>
          </a:p>
          <a:p>
            <a:r>
              <a:rPr lang="en-US" sz="2400" dirty="0">
                <a:latin typeface="Arial" panose="020B0604020202020204" pitchFamily="34" charset="0"/>
                <a:cs typeface="Arial" panose="020B0604020202020204" pitchFamily="34" charset="0"/>
              </a:rPr>
              <a:t>Instant deployment across domains.</a:t>
            </a:r>
          </a:p>
          <a:p>
            <a:r>
              <a:rPr lang="en-US" sz="2400" dirty="0">
                <a:latin typeface="Arial" panose="020B0604020202020204" pitchFamily="34" charset="0"/>
                <a:cs typeface="Arial" panose="020B0604020202020204" pitchFamily="34" charset="0"/>
              </a:rPr>
              <a:t>Eliminates per-series model fitting costs.</a:t>
            </a:r>
          </a:p>
          <a:p>
            <a:pPr marL="0" indent="0">
              <a:buNone/>
            </a:pPr>
            <a:r>
              <a:rPr lang="en-US" sz="2600" b="1" dirty="0">
                <a:latin typeface="Arial" panose="020B0604020202020204" pitchFamily="34" charset="0"/>
                <a:cs typeface="Arial" panose="020B0604020202020204" pitchFamily="34" charset="0"/>
              </a:rPr>
              <a:t>Our Research Question</a:t>
            </a:r>
            <a:r>
              <a:rPr lang="en-US" sz="2600" dirty="0">
                <a:latin typeface="Arial" panose="020B0604020202020204" pitchFamily="34" charset="0"/>
                <a:cs typeface="Arial" panose="020B0604020202020204" pitchFamily="34" charset="0"/>
              </a:rPr>
              <a:t>: Does Bayesian Time Series Model provide a better prior for PFNs in context of Time Series Forecasting?</a:t>
            </a:r>
          </a:p>
          <a:p>
            <a:pPr marL="0" indent="0">
              <a:buNone/>
            </a:pPr>
            <a:endParaRPr lang="en-AU" dirty="0"/>
          </a:p>
        </p:txBody>
      </p:sp>
      <p:pic>
        <p:nvPicPr>
          <p:cNvPr id="4" name="Picture 3">
            <a:extLst>
              <a:ext uri="{FF2B5EF4-FFF2-40B4-BE49-F238E27FC236}">
                <a16:creationId xmlns:a16="http://schemas.microsoft.com/office/drawing/2014/main" id="{CDCFDB22-08BB-DD5C-FD36-176EBC208973}"/>
              </a:ext>
            </a:extLst>
          </p:cNvPr>
          <p:cNvPicPr>
            <a:picLocks noChangeAspect="1"/>
          </p:cNvPicPr>
          <p:nvPr/>
        </p:nvPicPr>
        <p:blipFill>
          <a:blip r:embed="rId3"/>
          <a:stretch>
            <a:fillRect/>
          </a:stretch>
        </p:blipFill>
        <p:spPr>
          <a:xfrm>
            <a:off x="8682643" y="314955"/>
            <a:ext cx="3509357" cy="3119428"/>
          </a:xfrm>
          <a:prstGeom prst="rect">
            <a:avLst/>
          </a:prstGeom>
        </p:spPr>
      </p:pic>
      <p:pic>
        <p:nvPicPr>
          <p:cNvPr id="6" name="Picture 5">
            <a:extLst>
              <a:ext uri="{FF2B5EF4-FFF2-40B4-BE49-F238E27FC236}">
                <a16:creationId xmlns:a16="http://schemas.microsoft.com/office/drawing/2014/main" id="{B08A1B0A-D2D7-E472-9D7A-BEEA93926B4B}"/>
              </a:ext>
            </a:extLst>
          </p:cNvPr>
          <p:cNvPicPr>
            <a:picLocks noChangeAspect="1"/>
          </p:cNvPicPr>
          <p:nvPr/>
        </p:nvPicPr>
        <p:blipFill>
          <a:blip r:embed="rId4"/>
          <a:stretch>
            <a:fillRect/>
          </a:stretch>
        </p:blipFill>
        <p:spPr>
          <a:xfrm>
            <a:off x="8682425" y="3781610"/>
            <a:ext cx="3488987" cy="3076389"/>
          </a:xfrm>
          <a:prstGeom prst="rect">
            <a:avLst/>
          </a:prstGeom>
        </p:spPr>
      </p:pic>
      <p:sp>
        <p:nvSpPr>
          <p:cNvPr id="7" name="TextBox 6">
            <a:extLst>
              <a:ext uri="{FF2B5EF4-FFF2-40B4-BE49-F238E27FC236}">
                <a16:creationId xmlns:a16="http://schemas.microsoft.com/office/drawing/2014/main" id="{2EBAF730-21C7-98C5-DBCF-BD360CAABCB3}"/>
              </a:ext>
            </a:extLst>
          </p:cNvPr>
          <p:cNvSpPr txBox="1"/>
          <p:nvPr/>
        </p:nvSpPr>
        <p:spPr>
          <a:xfrm>
            <a:off x="8736676" y="-54377"/>
            <a:ext cx="3455324" cy="307777"/>
          </a:xfrm>
          <a:prstGeom prst="rect">
            <a:avLst/>
          </a:prstGeom>
          <a:noFill/>
        </p:spPr>
        <p:txBody>
          <a:bodyPr wrap="square" rtlCol="0">
            <a:spAutoFit/>
          </a:bodyPr>
          <a:lstStyle/>
          <a:p>
            <a:r>
              <a:rPr lang="en-AU" sz="1400" dirty="0">
                <a:latin typeface="Arial" panose="020B0604020202020204" pitchFamily="34" charset="0"/>
                <a:cs typeface="Arial" panose="020B0604020202020204" pitchFamily="34" charset="0"/>
              </a:rPr>
              <a:t>Traditional Setting (Dooley et al., 2023)</a:t>
            </a:r>
          </a:p>
        </p:txBody>
      </p:sp>
      <p:sp>
        <p:nvSpPr>
          <p:cNvPr id="8" name="TextBox 7">
            <a:extLst>
              <a:ext uri="{FF2B5EF4-FFF2-40B4-BE49-F238E27FC236}">
                <a16:creationId xmlns:a16="http://schemas.microsoft.com/office/drawing/2014/main" id="{61D30BB2-5A83-C65E-87A6-7EA676417CD4}"/>
              </a:ext>
            </a:extLst>
          </p:cNvPr>
          <p:cNvSpPr txBox="1"/>
          <p:nvPr/>
        </p:nvSpPr>
        <p:spPr>
          <a:xfrm>
            <a:off x="8682424" y="3412278"/>
            <a:ext cx="3488987" cy="307777"/>
          </a:xfrm>
          <a:prstGeom prst="rect">
            <a:avLst/>
          </a:prstGeom>
          <a:noFill/>
        </p:spPr>
        <p:txBody>
          <a:bodyPr wrap="square" rtlCol="0">
            <a:spAutoFit/>
          </a:bodyPr>
          <a:lstStyle/>
          <a:p>
            <a:pPr algn="ctr"/>
            <a:r>
              <a:rPr lang="en-AU" sz="1400" dirty="0">
                <a:latin typeface="Arial" panose="020B0604020202020204" pitchFamily="34" charset="0"/>
                <a:cs typeface="Arial" panose="020B0604020202020204" pitchFamily="34" charset="0"/>
              </a:rPr>
              <a:t>PFN Setting (Dooley et al., 2023)</a:t>
            </a:r>
          </a:p>
        </p:txBody>
      </p:sp>
    </p:spTree>
    <p:extLst>
      <p:ext uri="{BB962C8B-B14F-4D97-AF65-F5344CB8AC3E}">
        <p14:creationId xmlns:p14="http://schemas.microsoft.com/office/powerpoint/2010/main" val="2194970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C3A82B-15A4-3538-E927-63680FFC7546}"/>
              </a:ext>
            </a:extLst>
          </p:cNvPr>
          <p:cNvSpPr txBox="1"/>
          <p:nvPr/>
        </p:nvSpPr>
        <p:spPr>
          <a:xfrm>
            <a:off x="1608513" y="211973"/>
            <a:ext cx="4871258" cy="584775"/>
          </a:xfrm>
          <a:prstGeom prst="rect">
            <a:avLst/>
          </a:prstGeom>
          <a:noFill/>
        </p:spPr>
        <p:txBody>
          <a:bodyPr wrap="square" rtlCol="0">
            <a:spAutoFit/>
          </a:bodyPr>
          <a:lstStyle/>
          <a:p>
            <a:r>
              <a:rPr lang="en-AU" sz="3200" dirty="0">
                <a:latin typeface="Arial" panose="020B0604020202020204" pitchFamily="34" charset="0"/>
                <a:cs typeface="Arial" panose="020B0604020202020204" pitchFamily="34" charset="0"/>
              </a:rPr>
              <a:t>Experimental Process</a:t>
            </a:r>
          </a:p>
        </p:txBody>
      </p:sp>
      <p:sp>
        <p:nvSpPr>
          <p:cNvPr id="3" name="TextBox 2">
            <a:extLst>
              <a:ext uri="{FF2B5EF4-FFF2-40B4-BE49-F238E27FC236}">
                <a16:creationId xmlns:a16="http://schemas.microsoft.com/office/drawing/2014/main" id="{9EBB5DEB-9FD8-A39A-5192-03F1C21530FB}"/>
              </a:ext>
            </a:extLst>
          </p:cNvPr>
          <p:cNvSpPr txBox="1"/>
          <p:nvPr/>
        </p:nvSpPr>
        <p:spPr>
          <a:xfrm>
            <a:off x="1712422" y="796748"/>
            <a:ext cx="7410796" cy="4339650"/>
          </a:xfrm>
          <a:prstGeom prst="rect">
            <a:avLst/>
          </a:prstGeom>
          <a:noFill/>
        </p:spPr>
        <p:txBody>
          <a:bodyPr wrap="square" rtlCol="0">
            <a:spAutoFit/>
          </a:bodyPr>
          <a:lstStyle/>
          <a:p>
            <a:r>
              <a:rPr lang="en-AU" dirty="0">
                <a:latin typeface="Arial" panose="020B0604020202020204" pitchFamily="34" charset="0"/>
                <a:cs typeface="Arial" panose="020B0604020202020204" pitchFamily="34" charset="0"/>
              </a:rPr>
              <a:t>Modified The Local Global Trend Model (LGT) to Generate Synthetic Data</a:t>
            </a:r>
          </a:p>
          <a:p>
            <a:endParaRPr lang="en-AU" dirty="0">
              <a:latin typeface="Arial" panose="020B0604020202020204" pitchFamily="34" charset="0"/>
              <a:cs typeface="Arial" panose="020B0604020202020204" pitchFamily="34" charset="0"/>
            </a:endParaRP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LGT is a Bayesian forecasting model that can capture complex trend and seasonality patterns.</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We changed it to a data generator from forecaster by making the starting point and trend component random.</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Fit 1428 M3 monthly series to the data and generate 100 per series (Total: 142800).</a:t>
            </a:r>
          </a:p>
          <a:p>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Feed The Synthetic Datasets to Train the model </a:t>
            </a:r>
            <a:r>
              <a:rPr lang="en-AU" dirty="0" err="1">
                <a:latin typeface="Arial" panose="020B0604020202020204" pitchFamily="34" charset="0"/>
                <a:cs typeface="Arial" panose="020B0604020202020204" pitchFamily="34" charset="0"/>
              </a:rPr>
              <a:t>ForecastPFN</a:t>
            </a:r>
            <a:r>
              <a:rPr lang="en-AU" dirty="0">
                <a:latin typeface="Arial" panose="020B0604020202020204" pitchFamily="34" charset="0"/>
                <a:cs typeface="Arial" panose="020B0604020202020204" pitchFamily="34" charset="0"/>
              </a:rPr>
              <a:t> Provided</a:t>
            </a:r>
          </a:p>
          <a:p>
            <a:pPr marL="285750" indent="-285750">
              <a:buClr>
                <a:schemeClr val="accent1"/>
              </a:buClr>
              <a:buFont typeface="Arial" panose="020B0604020202020204" pitchFamily="34" charset="0"/>
              <a:buChar char="•"/>
            </a:pPr>
            <a:r>
              <a:rPr lang="en-AU" sz="1300" dirty="0" err="1">
                <a:latin typeface="Arial" panose="020B0604020202020204" pitchFamily="34" charset="0"/>
                <a:cs typeface="Arial" panose="020B0604020202020204" pitchFamily="34" charset="0"/>
              </a:rPr>
              <a:t>ForecastPFN</a:t>
            </a:r>
            <a:r>
              <a:rPr lang="en-AU" sz="1300" dirty="0">
                <a:latin typeface="Arial" panose="020B0604020202020204" pitchFamily="34" charset="0"/>
                <a:cs typeface="Arial" panose="020B0604020202020204" pitchFamily="34" charset="0"/>
              </a:rPr>
              <a:t> is the first PFN that provided framework for time series forecasting.</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It claims to achieve state-of-the-art performance.</a:t>
            </a:r>
          </a:p>
          <a:p>
            <a:pPr marL="285750" indent="-285750">
              <a:buFont typeface="Arial" panose="020B0604020202020204" pitchFamily="34" charset="0"/>
              <a:buChar char="•"/>
            </a:pPr>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Finally, We Generate Zero-shot Predictions From Our Trained Model.</a:t>
            </a:r>
          </a:p>
          <a:p>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However, there are some issues that we encountered when running the model.</a:t>
            </a:r>
          </a:p>
          <a:p>
            <a:endParaRPr lang="en-AU" dirty="0">
              <a:latin typeface="Arial" panose="020B0604020202020204" pitchFamily="34" charset="0"/>
              <a:cs typeface="Arial" panose="020B0604020202020204" pitchFamily="34" charset="0"/>
            </a:endParaRPr>
          </a:p>
        </p:txBody>
      </p:sp>
      <p:pic>
        <p:nvPicPr>
          <p:cNvPr id="5" name="Picture 4" descr="A diagram of a train&#10;&#10;AI-generated content may be incorrect.">
            <a:extLst>
              <a:ext uri="{FF2B5EF4-FFF2-40B4-BE49-F238E27FC236}">
                <a16:creationId xmlns:a16="http://schemas.microsoft.com/office/drawing/2014/main" id="{68AAD646-DA25-0B72-CE36-1C07A273FD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70924" y="0"/>
            <a:ext cx="2621076" cy="6068933"/>
          </a:xfrm>
          <a:prstGeom prst="rect">
            <a:avLst/>
          </a:prstGeom>
        </p:spPr>
      </p:pic>
    </p:spTree>
    <p:extLst>
      <p:ext uri="{BB962C8B-B14F-4D97-AF65-F5344CB8AC3E}">
        <p14:creationId xmlns:p14="http://schemas.microsoft.com/office/powerpoint/2010/main" val="659366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103190-172C-7D82-5377-E4257D965948}"/>
              </a:ext>
            </a:extLst>
          </p:cNvPr>
          <p:cNvSpPr txBox="1"/>
          <p:nvPr/>
        </p:nvSpPr>
        <p:spPr>
          <a:xfrm>
            <a:off x="1729048" y="278476"/>
            <a:ext cx="10262062"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Critical Discovery: </a:t>
            </a:r>
            <a:r>
              <a:rPr lang="en-US" sz="3200" dirty="0" err="1">
                <a:latin typeface="Arial" panose="020B0604020202020204" pitchFamily="34" charset="0"/>
                <a:cs typeface="Arial" panose="020B0604020202020204" pitchFamily="34" charset="0"/>
              </a:rPr>
              <a:t>ForecastPFN</a:t>
            </a:r>
            <a:r>
              <a:rPr lang="en-US" sz="3200" dirty="0">
                <a:latin typeface="Arial" panose="020B0604020202020204" pitchFamily="34" charset="0"/>
                <a:cs typeface="Arial" panose="020B0604020202020204" pitchFamily="34" charset="0"/>
              </a:rPr>
              <a:t> Implementation Issues</a:t>
            </a:r>
            <a:endParaRPr lang="en-AU" sz="3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28CEA9C-F63E-D61D-014D-A05F880276F8}"/>
              </a:ext>
            </a:extLst>
          </p:cNvPr>
          <p:cNvSpPr txBox="1"/>
          <p:nvPr/>
        </p:nvSpPr>
        <p:spPr>
          <a:xfrm>
            <a:off x="1830185" y="1155469"/>
            <a:ext cx="7018713" cy="3677930"/>
          </a:xfrm>
          <a:prstGeom prst="rect">
            <a:avLst/>
          </a:prstGeom>
          <a:noFill/>
        </p:spPr>
        <p:txBody>
          <a:bodyPr wrap="square" rtlCol="0">
            <a:spAutoFit/>
          </a:bodyPr>
          <a:lstStyle/>
          <a:p>
            <a:r>
              <a:rPr lang="en-AU" dirty="0">
                <a:latin typeface="Arial" panose="020B0604020202020204" pitchFamily="34" charset="0"/>
                <a:cs typeface="Arial" panose="020B0604020202020204" pitchFamily="34" charset="0"/>
              </a:rPr>
              <a:t>Problems Found:</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Scaling instability leading to training divergence and gradient explosion </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Evaluation on normalised data (violates forecasting standards) </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Testing on single random series (not representative).</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Persistent "flat" predictions.</a:t>
            </a:r>
          </a:p>
          <a:p>
            <a:pPr marL="285750" indent="-285750">
              <a:buClr>
                <a:schemeClr val="accent1"/>
              </a:buClr>
              <a:buFont typeface="Arial" panose="020B0604020202020204" pitchFamily="34" charset="0"/>
              <a:buChar char="•"/>
            </a:pPr>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Our Corrections:</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Proper scaling (max-scaling) </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Evaluation on original-scale data </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Testing on complete datasets </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Proper scale-independent metrics (MASE, </a:t>
            </a:r>
            <a:r>
              <a:rPr lang="en-AU" sz="1300" dirty="0" err="1">
                <a:latin typeface="Arial" panose="020B0604020202020204" pitchFamily="34" charset="0"/>
                <a:cs typeface="Arial" panose="020B0604020202020204" pitchFamily="34" charset="0"/>
              </a:rPr>
              <a:t>sMAPE</a:t>
            </a:r>
            <a:r>
              <a:rPr lang="en-AU" sz="1300" dirty="0">
                <a:latin typeface="Arial" panose="020B0604020202020204" pitchFamily="34" charset="0"/>
                <a:cs typeface="Arial" panose="020B0604020202020204" pitchFamily="34" charset="0"/>
              </a:rPr>
              <a:t>)</a:t>
            </a:r>
          </a:p>
          <a:p>
            <a:pPr>
              <a:buClr>
                <a:schemeClr val="accent1"/>
              </a:buClr>
            </a:pPr>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Implications: </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Original </a:t>
            </a:r>
            <a:r>
              <a:rPr lang="en-AU" sz="1300" dirty="0" err="1">
                <a:latin typeface="Arial" panose="020B0604020202020204" pitchFamily="34" charset="0"/>
                <a:cs typeface="Arial" panose="020B0604020202020204" pitchFamily="34" charset="0"/>
              </a:rPr>
              <a:t>ForecastPFN</a:t>
            </a:r>
            <a:r>
              <a:rPr lang="en-AU" sz="1300" dirty="0">
                <a:latin typeface="Arial" panose="020B0604020202020204" pitchFamily="34" charset="0"/>
                <a:cs typeface="Arial" panose="020B0604020202020204" pitchFamily="34" charset="0"/>
              </a:rPr>
              <a:t> results likely invalid, which is a shame as it is a paper that is </a:t>
            </a:r>
            <a:r>
              <a:rPr lang="en-AU" sz="1300" dirty="0" err="1">
                <a:latin typeface="Arial" panose="020B0604020202020204" pitchFamily="34" charset="0"/>
                <a:cs typeface="Arial" panose="020B0604020202020204" pitchFamily="34" charset="0"/>
              </a:rPr>
              <a:t>presentedin</a:t>
            </a:r>
            <a:r>
              <a:rPr lang="en-AU" sz="1300" dirty="0">
                <a:latin typeface="Arial" panose="020B0604020202020204" pitchFamily="34" charset="0"/>
                <a:cs typeface="Arial" panose="020B0604020202020204" pitchFamily="34" charset="0"/>
              </a:rPr>
              <a:t> </a:t>
            </a:r>
            <a:r>
              <a:rPr lang="en-AU" sz="1300" dirty="0" err="1">
                <a:latin typeface="Arial" panose="020B0604020202020204" pitchFamily="34" charset="0"/>
                <a:cs typeface="Arial" panose="020B0604020202020204" pitchFamily="34" charset="0"/>
              </a:rPr>
              <a:t>NeurIPS</a:t>
            </a:r>
            <a:r>
              <a:rPr lang="en-AU" sz="1300" dirty="0">
                <a:latin typeface="Arial" panose="020B0604020202020204" pitchFamily="34" charset="0"/>
                <a:cs typeface="Arial" panose="020B0604020202020204" pitchFamily="34" charset="0"/>
              </a:rPr>
              <a:t> 2023.</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Our work establishes rigorous evaluation framework </a:t>
            </a:r>
          </a:p>
        </p:txBody>
      </p:sp>
      <p:pic>
        <p:nvPicPr>
          <p:cNvPr id="5" name="Picture 4" descr="A green line graph with red lines&#10;&#10;AI-generated content may be incorrect.">
            <a:extLst>
              <a:ext uri="{FF2B5EF4-FFF2-40B4-BE49-F238E27FC236}">
                <a16:creationId xmlns:a16="http://schemas.microsoft.com/office/drawing/2014/main" id="{49DF3AFB-DC1E-F91B-28CA-6A9F9A4A6A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8570" y="5262524"/>
            <a:ext cx="3230794" cy="1595476"/>
          </a:xfrm>
          <a:prstGeom prst="rect">
            <a:avLst/>
          </a:prstGeom>
        </p:spPr>
      </p:pic>
      <p:pic>
        <p:nvPicPr>
          <p:cNvPr id="7" name="Picture 6" descr="A green line graph with red line&#10;&#10;AI-generated content may be incorrect.">
            <a:extLst>
              <a:ext uri="{FF2B5EF4-FFF2-40B4-BE49-F238E27FC236}">
                <a16:creationId xmlns:a16="http://schemas.microsoft.com/office/drawing/2014/main" id="{3D054ED0-8CBE-EB8F-2B0D-1FB5173BE6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9595" y="5262524"/>
            <a:ext cx="3230793" cy="1595476"/>
          </a:xfrm>
          <a:prstGeom prst="rect">
            <a:avLst/>
          </a:prstGeom>
        </p:spPr>
      </p:pic>
      <p:pic>
        <p:nvPicPr>
          <p:cNvPr id="9" name="Picture 8" descr="A graph with green lines and red dots&#10;&#10;AI-generated content may be incorrect.">
            <a:extLst>
              <a:ext uri="{FF2B5EF4-FFF2-40B4-BE49-F238E27FC236}">
                <a16:creationId xmlns:a16="http://schemas.microsoft.com/office/drawing/2014/main" id="{8C3F8BFA-BF75-3B33-2F77-5541592A18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94619" y="1312246"/>
            <a:ext cx="3203829" cy="1582160"/>
          </a:xfrm>
          <a:prstGeom prst="rect">
            <a:avLst/>
          </a:prstGeom>
        </p:spPr>
      </p:pic>
      <p:pic>
        <p:nvPicPr>
          <p:cNvPr id="11" name="Picture 10" descr="A graph with a green line&#10;&#10;AI-generated content may be incorrect.">
            <a:extLst>
              <a:ext uri="{FF2B5EF4-FFF2-40B4-BE49-F238E27FC236}">
                <a16:creationId xmlns:a16="http://schemas.microsoft.com/office/drawing/2014/main" id="{1EF56623-151B-507F-F6BC-903E8C1F5AD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94619" y="2930496"/>
            <a:ext cx="3375136" cy="1666757"/>
          </a:xfrm>
          <a:prstGeom prst="rect">
            <a:avLst/>
          </a:prstGeom>
        </p:spPr>
      </p:pic>
      <p:sp>
        <p:nvSpPr>
          <p:cNvPr id="12" name="TextBox 11">
            <a:extLst>
              <a:ext uri="{FF2B5EF4-FFF2-40B4-BE49-F238E27FC236}">
                <a16:creationId xmlns:a16="http://schemas.microsoft.com/office/drawing/2014/main" id="{7A173CA8-2808-E120-3F98-7C56DBC557A5}"/>
              </a:ext>
            </a:extLst>
          </p:cNvPr>
          <p:cNvSpPr txBox="1"/>
          <p:nvPr/>
        </p:nvSpPr>
        <p:spPr>
          <a:xfrm>
            <a:off x="8761615" y="773084"/>
            <a:ext cx="3336833" cy="646331"/>
          </a:xfrm>
          <a:prstGeom prst="rect">
            <a:avLst/>
          </a:prstGeom>
          <a:noFill/>
        </p:spPr>
        <p:txBody>
          <a:bodyPr wrap="square" rtlCol="0">
            <a:spAutoFit/>
          </a:bodyPr>
          <a:lstStyle/>
          <a:p>
            <a:r>
              <a:rPr lang="en-AU" dirty="0">
                <a:latin typeface="Arial" panose="020B0604020202020204" pitchFamily="34" charset="0"/>
                <a:cs typeface="Arial" panose="020B0604020202020204" pitchFamily="34" charset="0"/>
              </a:rPr>
              <a:t>M3 monthly predictions has some pattern changes</a:t>
            </a:r>
          </a:p>
        </p:txBody>
      </p:sp>
      <p:sp>
        <p:nvSpPr>
          <p:cNvPr id="13" name="TextBox 12">
            <a:extLst>
              <a:ext uri="{FF2B5EF4-FFF2-40B4-BE49-F238E27FC236}">
                <a16:creationId xmlns:a16="http://schemas.microsoft.com/office/drawing/2014/main" id="{06A928BB-0FC3-86AF-58B0-A71FE91ED681}"/>
              </a:ext>
            </a:extLst>
          </p:cNvPr>
          <p:cNvSpPr txBox="1"/>
          <p:nvPr/>
        </p:nvSpPr>
        <p:spPr>
          <a:xfrm>
            <a:off x="5647806" y="4740896"/>
            <a:ext cx="6427124" cy="369332"/>
          </a:xfrm>
          <a:prstGeom prst="rect">
            <a:avLst/>
          </a:prstGeom>
          <a:noFill/>
        </p:spPr>
        <p:txBody>
          <a:bodyPr wrap="square" rtlCol="0">
            <a:spAutoFit/>
          </a:bodyPr>
          <a:lstStyle/>
          <a:p>
            <a:r>
              <a:rPr lang="en-AU" dirty="0">
                <a:latin typeface="Arial" panose="020B0604020202020204" pitchFamily="34" charset="0"/>
                <a:cs typeface="Arial" panose="020B0604020202020204" pitchFamily="34" charset="0"/>
              </a:rPr>
              <a:t>M3 yearly predictions has a serious flatness problem</a:t>
            </a:r>
          </a:p>
        </p:txBody>
      </p:sp>
    </p:spTree>
    <p:extLst>
      <p:ext uri="{BB962C8B-B14F-4D97-AF65-F5344CB8AC3E}">
        <p14:creationId xmlns:p14="http://schemas.microsoft.com/office/powerpoint/2010/main" val="362860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97ED11-E1CD-1755-7D27-68EAC1AC2C33}"/>
              </a:ext>
            </a:extLst>
          </p:cNvPr>
          <p:cNvSpPr txBox="1"/>
          <p:nvPr/>
        </p:nvSpPr>
        <p:spPr>
          <a:xfrm>
            <a:off x="1849581" y="270164"/>
            <a:ext cx="5569527" cy="584775"/>
          </a:xfrm>
          <a:prstGeom prst="rect">
            <a:avLst/>
          </a:prstGeom>
          <a:noFill/>
        </p:spPr>
        <p:txBody>
          <a:bodyPr wrap="square" rtlCol="0">
            <a:spAutoFit/>
          </a:bodyPr>
          <a:lstStyle/>
          <a:p>
            <a:r>
              <a:rPr lang="en-AU" sz="3200" dirty="0">
                <a:latin typeface="Arial" panose="020B0604020202020204" pitchFamily="34" charset="0"/>
                <a:cs typeface="Arial" panose="020B0604020202020204" pitchFamily="34" charset="0"/>
              </a:rPr>
              <a:t>Results: Mixed Performance</a:t>
            </a:r>
          </a:p>
        </p:txBody>
      </p:sp>
      <p:pic>
        <p:nvPicPr>
          <p:cNvPr id="4" name="Picture 3">
            <a:extLst>
              <a:ext uri="{FF2B5EF4-FFF2-40B4-BE49-F238E27FC236}">
                <a16:creationId xmlns:a16="http://schemas.microsoft.com/office/drawing/2014/main" id="{8FD825E2-2FE3-8127-2E32-F5FC72AE9F6C}"/>
              </a:ext>
            </a:extLst>
          </p:cNvPr>
          <p:cNvPicPr>
            <a:picLocks noChangeAspect="1"/>
          </p:cNvPicPr>
          <p:nvPr/>
        </p:nvPicPr>
        <p:blipFill>
          <a:blip r:embed="rId3"/>
          <a:stretch>
            <a:fillRect/>
          </a:stretch>
        </p:blipFill>
        <p:spPr>
          <a:xfrm>
            <a:off x="6870469" y="771064"/>
            <a:ext cx="5285093" cy="1469062"/>
          </a:xfrm>
          <a:prstGeom prst="rect">
            <a:avLst/>
          </a:prstGeom>
        </p:spPr>
      </p:pic>
      <p:pic>
        <p:nvPicPr>
          <p:cNvPr id="6" name="Picture 5">
            <a:extLst>
              <a:ext uri="{FF2B5EF4-FFF2-40B4-BE49-F238E27FC236}">
                <a16:creationId xmlns:a16="http://schemas.microsoft.com/office/drawing/2014/main" id="{70C09558-9174-2D8E-266A-6E874DF43A6B}"/>
              </a:ext>
            </a:extLst>
          </p:cNvPr>
          <p:cNvPicPr>
            <a:picLocks noChangeAspect="1"/>
          </p:cNvPicPr>
          <p:nvPr/>
        </p:nvPicPr>
        <p:blipFill>
          <a:blip r:embed="rId4"/>
          <a:stretch>
            <a:fillRect/>
          </a:stretch>
        </p:blipFill>
        <p:spPr>
          <a:xfrm>
            <a:off x="6870469" y="2956533"/>
            <a:ext cx="5349641" cy="1511558"/>
          </a:xfrm>
          <a:prstGeom prst="rect">
            <a:avLst/>
          </a:prstGeom>
        </p:spPr>
      </p:pic>
      <p:pic>
        <p:nvPicPr>
          <p:cNvPr id="8" name="Picture 7">
            <a:extLst>
              <a:ext uri="{FF2B5EF4-FFF2-40B4-BE49-F238E27FC236}">
                <a16:creationId xmlns:a16="http://schemas.microsoft.com/office/drawing/2014/main" id="{35A790BE-36BC-5A36-19A3-8A7104E4F222}"/>
              </a:ext>
            </a:extLst>
          </p:cNvPr>
          <p:cNvPicPr>
            <a:picLocks noChangeAspect="1"/>
          </p:cNvPicPr>
          <p:nvPr/>
        </p:nvPicPr>
        <p:blipFill>
          <a:blip r:embed="rId5"/>
          <a:stretch>
            <a:fillRect/>
          </a:stretch>
        </p:blipFill>
        <p:spPr>
          <a:xfrm>
            <a:off x="6870469" y="5347346"/>
            <a:ext cx="5349641" cy="1495273"/>
          </a:xfrm>
          <a:prstGeom prst="rect">
            <a:avLst/>
          </a:prstGeom>
        </p:spPr>
      </p:pic>
      <p:sp>
        <p:nvSpPr>
          <p:cNvPr id="9" name="TextBox 8">
            <a:extLst>
              <a:ext uri="{FF2B5EF4-FFF2-40B4-BE49-F238E27FC236}">
                <a16:creationId xmlns:a16="http://schemas.microsoft.com/office/drawing/2014/main" id="{18E6AE7B-C7CD-5777-5EB2-0F0547F336D0}"/>
              </a:ext>
            </a:extLst>
          </p:cNvPr>
          <p:cNvSpPr txBox="1"/>
          <p:nvPr/>
        </p:nvSpPr>
        <p:spPr>
          <a:xfrm>
            <a:off x="1928553" y="908165"/>
            <a:ext cx="4941916" cy="4939814"/>
          </a:xfrm>
          <a:prstGeom prst="rect">
            <a:avLst/>
          </a:prstGeom>
          <a:noFill/>
        </p:spPr>
        <p:txBody>
          <a:bodyPr wrap="square" rtlCol="0">
            <a:spAutoFit/>
          </a:bodyPr>
          <a:lstStyle/>
          <a:p>
            <a:r>
              <a:rPr lang="en-AU" dirty="0">
                <a:latin typeface="Arial" panose="020B0604020202020204" pitchFamily="34" charset="0"/>
                <a:cs typeface="Arial" panose="020B0604020202020204" pitchFamily="34" charset="0"/>
              </a:rPr>
              <a:t>M3 Monthly:</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Comes Second in </a:t>
            </a:r>
            <a:r>
              <a:rPr lang="en-AU" sz="1300" dirty="0" err="1">
                <a:latin typeface="Arial" panose="020B0604020202020204" pitchFamily="34" charset="0"/>
                <a:cs typeface="Arial" panose="020B0604020202020204" pitchFamily="34" charset="0"/>
              </a:rPr>
              <a:t>sMAPE</a:t>
            </a:r>
            <a:r>
              <a:rPr lang="en-AU" sz="1300" dirty="0">
                <a:latin typeface="Arial" panose="020B0604020202020204" pitchFamily="34" charset="0"/>
                <a:cs typeface="Arial" panose="020B0604020202020204" pitchFamily="34" charset="0"/>
              </a:rPr>
              <a:t>, but last in MASE.</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The model captures some patterns.</a:t>
            </a:r>
          </a:p>
          <a:p>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M3 Yearly:</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Comes last in both metrics.</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Flatness issue definitely plays a big role.</a:t>
            </a:r>
          </a:p>
          <a:p>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CIF 2016</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Comes First in MASE.</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Shows some capability in prediction accuracy.</a:t>
            </a:r>
          </a:p>
          <a:p>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Other datasets:</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Better than Seasonal Naïve on </a:t>
            </a:r>
            <a:r>
              <a:rPr lang="en-AU" sz="1300" dirty="0" err="1">
                <a:latin typeface="Arial" panose="020B0604020202020204" pitchFamily="34" charset="0"/>
                <a:cs typeface="Arial" panose="020B0604020202020204" pitchFamily="34" charset="0"/>
              </a:rPr>
              <a:t>sMAPE</a:t>
            </a:r>
            <a:r>
              <a:rPr lang="en-AU" sz="1300" dirty="0">
                <a:latin typeface="Arial" panose="020B0604020202020204" pitchFamily="34" charset="0"/>
                <a:cs typeface="Arial" panose="020B0604020202020204" pitchFamily="34" charset="0"/>
              </a:rPr>
              <a:t>.</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Performs poorly on MASE.</a:t>
            </a:r>
          </a:p>
          <a:p>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Prediction Speed:</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Predicted within seconds, proving zero-shot is true.</a:t>
            </a:r>
          </a:p>
          <a:p>
            <a:endParaRPr lang="en-AU" dirty="0">
              <a:latin typeface="Arial" panose="020B0604020202020204" pitchFamily="34" charset="0"/>
              <a:cs typeface="Arial" panose="020B0604020202020204" pitchFamily="34" charset="0"/>
            </a:endParaRPr>
          </a:p>
          <a:p>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364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B0FCD0-1C4A-BD53-C12E-3A7868A7B6A6}"/>
              </a:ext>
            </a:extLst>
          </p:cNvPr>
          <p:cNvSpPr txBox="1"/>
          <p:nvPr/>
        </p:nvSpPr>
        <p:spPr>
          <a:xfrm>
            <a:off x="1749829" y="153785"/>
            <a:ext cx="7801495" cy="584775"/>
          </a:xfrm>
          <a:prstGeom prst="rect">
            <a:avLst/>
          </a:prstGeom>
          <a:noFill/>
        </p:spPr>
        <p:txBody>
          <a:bodyPr wrap="square" rtlCol="0">
            <a:spAutoFit/>
          </a:bodyPr>
          <a:lstStyle/>
          <a:p>
            <a:r>
              <a:rPr lang="en-AU" sz="3200" dirty="0">
                <a:latin typeface="Arial" panose="020B0604020202020204" pitchFamily="34" charset="0"/>
                <a:cs typeface="Arial" panose="020B0604020202020204" pitchFamily="34" charset="0"/>
              </a:rPr>
              <a:t>Implications and Future Directions</a:t>
            </a:r>
          </a:p>
        </p:txBody>
      </p:sp>
      <p:sp>
        <p:nvSpPr>
          <p:cNvPr id="3" name="TextBox 2">
            <a:extLst>
              <a:ext uri="{FF2B5EF4-FFF2-40B4-BE49-F238E27FC236}">
                <a16:creationId xmlns:a16="http://schemas.microsoft.com/office/drawing/2014/main" id="{D0BB446B-73A8-3B14-3E43-62EDBA14C35C}"/>
              </a:ext>
            </a:extLst>
          </p:cNvPr>
          <p:cNvSpPr txBox="1"/>
          <p:nvPr/>
        </p:nvSpPr>
        <p:spPr>
          <a:xfrm>
            <a:off x="1749829" y="797510"/>
            <a:ext cx="6874626" cy="5262979"/>
          </a:xfrm>
          <a:prstGeom prst="rect">
            <a:avLst/>
          </a:prstGeom>
          <a:noFill/>
        </p:spPr>
        <p:txBody>
          <a:bodyPr wrap="square" rtlCol="0">
            <a:spAutoFit/>
          </a:bodyPr>
          <a:lstStyle/>
          <a:p>
            <a:r>
              <a:rPr lang="en-AU" dirty="0">
                <a:latin typeface="Arial" panose="020B0604020202020204" pitchFamily="34" charset="0"/>
                <a:cs typeface="Arial" panose="020B0604020202020204" pitchFamily="34" charset="0"/>
              </a:rPr>
              <a:t>LGT-generated synthetic data CAN capture meaningful forecasting patterns.</a:t>
            </a:r>
          </a:p>
          <a:p>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Major Confound:</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Cannot definitively assess "LGT as prior" due to persistent architectural issues </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Flatness problem suggests </a:t>
            </a:r>
            <a:r>
              <a:rPr lang="en-AU" sz="1300" dirty="0" err="1">
                <a:latin typeface="Arial" panose="020B0604020202020204" pitchFamily="34" charset="0"/>
                <a:cs typeface="Arial" panose="020B0604020202020204" pitchFamily="34" charset="0"/>
              </a:rPr>
              <a:t>ForecastPFN</a:t>
            </a:r>
            <a:r>
              <a:rPr lang="en-AU" sz="1300" dirty="0">
                <a:latin typeface="Arial" panose="020B0604020202020204" pitchFamily="34" charset="0"/>
                <a:cs typeface="Arial" panose="020B0604020202020204" pitchFamily="34" charset="0"/>
              </a:rPr>
              <a:t> limitations, not just prior inadequacy </a:t>
            </a:r>
          </a:p>
          <a:p>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Question Remained: Is poor performance due to LGT or the architecture? </a:t>
            </a:r>
          </a:p>
          <a:p>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Broader Contributions:</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Validity of existing PFN forecasting literature </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Establishes rigorous evaluation methodology </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Demonstrates feasibility of Bayesian model → synthetic data → PFN pipeline </a:t>
            </a:r>
          </a:p>
          <a:p>
            <a:pPr marL="285750" indent="-285750">
              <a:buClr>
                <a:schemeClr val="accent1"/>
              </a:buClr>
              <a:buFont typeface="Arial" panose="020B0604020202020204" pitchFamily="34" charset="0"/>
              <a:buChar char="•"/>
            </a:pPr>
            <a:r>
              <a:rPr lang="en-AU" sz="1300" dirty="0">
                <a:latin typeface="Arial" panose="020B0604020202020204" pitchFamily="34" charset="0"/>
                <a:cs typeface="Arial" panose="020B0604020202020204" pitchFamily="34" charset="0"/>
              </a:rPr>
              <a:t>Real-world value: Zero-shot forecasting crucial for data-scarce domains</a:t>
            </a:r>
          </a:p>
          <a:p>
            <a:pPr marL="285750" indent="-285750">
              <a:buClr>
                <a:schemeClr val="accent1"/>
              </a:buClr>
              <a:buFont typeface="Arial" panose="020B0604020202020204" pitchFamily="34" charset="0"/>
              <a:buChar char="•"/>
            </a:pPr>
            <a:endParaRPr lang="en-AU" sz="13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Future Direction:</a:t>
            </a:r>
          </a:p>
          <a:p>
            <a:pPr marL="285750" indent="-285750">
              <a:buClr>
                <a:schemeClr val="accent1"/>
              </a:buClr>
              <a:buFont typeface="Arial" panose="020B0604020202020204" pitchFamily="34" charset="0"/>
              <a:buChar char="•"/>
            </a:pPr>
            <a:r>
              <a:rPr lang="en-US" sz="1300" dirty="0">
                <a:latin typeface="Arial" panose="020B0604020202020204" pitchFamily="34" charset="0"/>
                <a:cs typeface="Arial" panose="020B0604020202020204" pitchFamily="34" charset="0"/>
              </a:rPr>
              <a:t>Design architectures specifically for LGT characteristics</a:t>
            </a:r>
          </a:p>
          <a:p>
            <a:pPr marL="285750" indent="-285750">
              <a:buClr>
                <a:schemeClr val="accent1"/>
              </a:buClr>
              <a:buFont typeface="Arial" panose="020B0604020202020204" pitchFamily="34" charset="0"/>
              <a:buChar char="•"/>
            </a:pPr>
            <a:r>
              <a:rPr lang="en-US" sz="1300" dirty="0">
                <a:latin typeface="Arial" panose="020B0604020202020204" pitchFamily="34" charset="0"/>
                <a:cs typeface="Arial" panose="020B0604020202020204" pitchFamily="34" charset="0"/>
              </a:rPr>
              <a:t>Incorporate diverse source datasets (beyond M3 monthly)</a:t>
            </a:r>
          </a:p>
          <a:p>
            <a:pPr marL="285750" indent="-285750">
              <a:buClr>
                <a:schemeClr val="accent1"/>
              </a:buClr>
              <a:buFont typeface="Arial" panose="020B0604020202020204" pitchFamily="34" charset="0"/>
              <a:buChar char="•"/>
            </a:pPr>
            <a:r>
              <a:rPr lang="en-US" sz="1300" dirty="0">
                <a:latin typeface="Arial" panose="020B0604020202020204" pitchFamily="34" charset="0"/>
                <a:cs typeface="Arial" panose="020B0604020202020204" pitchFamily="34" charset="0"/>
              </a:rPr>
              <a:t>Explore alternative priors and ensemble approaches</a:t>
            </a:r>
          </a:p>
          <a:p>
            <a:pPr>
              <a:buClr>
                <a:schemeClr val="accent1"/>
              </a:buClr>
            </a:pPr>
            <a:endParaRPr lang="en-AU" sz="13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50717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60F899-661B-B566-F69F-367BA01BA3C4}"/>
              </a:ext>
            </a:extLst>
          </p:cNvPr>
          <p:cNvSpPr txBox="1"/>
          <p:nvPr/>
        </p:nvSpPr>
        <p:spPr>
          <a:xfrm>
            <a:off x="2090651" y="249381"/>
            <a:ext cx="5852160" cy="584775"/>
          </a:xfrm>
          <a:prstGeom prst="rect">
            <a:avLst/>
          </a:prstGeom>
          <a:noFill/>
        </p:spPr>
        <p:txBody>
          <a:bodyPr wrap="square" rtlCol="0">
            <a:spAutoFit/>
          </a:bodyPr>
          <a:lstStyle/>
          <a:p>
            <a:r>
              <a:rPr lang="en-AU" sz="3200" dirty="0">
                <a:latin typeface="Arial" panose="020B0604020202020204" pitchFamily="34" charset="0"/>
                <a:cs typeface="Arial" panose="020B0604020202020204" pitchFamily="34" charset="0"/>
              </a:rPr>
              <a:t>Conclusion</a:t>
            </a:r>
          </a:p>
        </p:txBody>
      </p:sp>
      <p:sp>
        <p:nvSpPr>
          <p:cNvPr id="3" name="TextBox 2">
            <a:extLst>
              <a:ext uri="{FF2B5EF4-FFF2-40B4-BE49-F238E27FC236}">
                <a16:creationId xmlns:a16="http://schemas.microsoft.com/office/drawing/2014/main" id="{B9AB4997-D2DC-1135-3F4C-2E50AA669641}"/>
              </a:ext>
            </a:extLst>
          </p:cNvPr>
          <p:cNvSpPr txBox="1"/>
          <p:nvPr/>
        </p:nvSpPr>
        <p:spPr>
          <a:xfrm>
            <a:off x="2231967" y="1080655"/>
            <a:ext cx="6363393" cy="369331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PFNs offer promising paradigm for zero-shot forecasting.</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LGT can generate realistic synthetic training data.</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Mixed results due to architectural confounds, not concept failure.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Established foundation for rigorous PFN forecasting research.</a:t>
            </a:r>
          </a:p>
          <a:p>
            <a:endParaRPr lang="en-US" dirty="0"/>
          </a:p>
          <a:p>
            <a:endParaRPr lang="en-US" dirty="0"/>
          </a:p>
          <a:p>
            <a:endParaRPr lang="en-US" dirty="0"/>
          </a:p>
          <a:p>
            <a:endParaRPr lang="en-AU" dirty="0"/>
          </a:p>
        </p:txBody>
      </p:sp>
    </p:spTree>
    <p:extLst>
      <p:ext uri="{BB962C8B-B14F-4D97-AF65-F5344CB8AC3E}">
        <p14:creationId xmlns:p14="http://schemas.microsoft.com/office/powerpoint/2010/main" val="4151412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CAF1A-19C4-4A22-C2A4-55CA9B703890}"/>
              </a:ext>
            </a:extLst>
          </p:cNvPr>
          <p:cNvSpPr>
            <a:spLocks noGrp="1"/>
          </p:cNvSpPr>
          <p:nvPr>
            <p:ph type="title" idx="4294967295"/>
          </p:nvPr>
        </p:nvSpPr>
        <p:spPr>
          <a:xfrm>
            <a:off x="2147050" y="106594"/>
            <a:ext cx="9604375" cy="1049337"/>
          </a:xfrm>
        </p:spPr>
        <p:txBody>
          <a:bodyPr/>
          <a:lstStyle/>
          <a:p>
            <a:r>
              <a:rPr lang="en-AU" cap="none" dirty="0">
                <a:latin typeface="Arial" panose="020B0604020202020204" pitchFamily="34" charset="0"/>
                <a:cs typeface="Arial" panose="020B0604020202020204" pitchFamily="34" charset="0"/>
              </a:rPr>
              <a:t>Reference List</a:t>
            </a:r>
          </a:p>
        </p:txBody>
      </p:sp>
      <p:sp>
        <p:nvSpPr>
          <p:cNvPr id="4" name="Content Placeholder 3">
            <a:extLst>
              <a:ext uri="{FF2B5EF4-FFF2-40B4-BE49-F238E27FC236}">
                <a16:creationId xmlns:a16="http://schemas.microsoft.com/office/drawing/2014/main" id="{E39C3763-FE79-30EE-3379-DC0DA258D204}"/>
              </a:ext>
            </a:extLst>
          </p:cNvPr>
          <p:cNvSpPr>
            <a:spLocks noGrp="1"/>
          </p:cNvSpPr>
          <p:nvPr>
            <p:ph idx="4294967295"/>
          </p:nvPr>
        </p:nvSpPr>
        <p:spPr>
          <a:xfrm>
            <a:off x="2205240" y="827405"/>
            <a:ext cx="9604375" cy="5311544"/>
          </a:xfrm>
        </p:spPr>
        <p:txBody>
          <a:bodyPr/>
          <a:lstStyle/>
          <a:p>
            <a:r>
              <a:rPr lang="en-AU" sz="1200" dirty="0">
                <a:latin typeface="Arial" panose="020B0604020202020204" pitchFamily="34" charset="0"/>
                <a:cs typeface="Arial" panose="020B0604020202020204" pitchFamily="34" charset="0"/>
              </a:rPr>
              <a:t>Dooley, S., Khurana, G. S., Mohapatra, C., Naidu, S., &amp; White, C. (2023). </a:t>
            </a:r>
            <a:r>
              <a:rPr lang="en-AU" sz="1200" i="1" dirty="0" err="1">
                <a:latin typeface="Arial" panose="020B0604020202020204" pitchFamily="34" charset="0"/>
                <a:cs typeface="Arial" panose="020B0604020202020204" pitchFamily="34" charset="0"/>
              </a:rPr>
              <a:t>ForecastPFN</a:t>
            </a:r>
            <a:r>
              <a:rPr lang="en-AU" sz="1200" i="1" dirty="0">
                <a:latin typeface="Arial" panose="020B0604020202020204" pitchFamily="34" charset="0"/>
                <a:cs typeface="Arial" panose="020B0604020202020204" pitchFamily="34" charset="0"/>
              </a:rPr>
              <a:t>: Synthetically-Trained Zero-Shot Forecasting</a:t>
            </a:r>
            <a:r>
              <a:rPr lang="en-AU" sz="1200" dirty="0">
                <a:latin typeface="Arial" panose="020B0604020202020204" pitchFamily="34" charset="0"/>
                <a:cs typeface="Arial" panose="020B0604020202020204" pitchFamily="34" charset="0"/>
              </a:rPr>
              <a:t>. ArXiv.org. </a:t>
            </a:r>
            <a:r>
              <a:rPr lang="en-AU" sz="1200" dirty="0">
                <a:latin typeface="Arial" panose="020B0604020202020204" pitchFamily="34" charset="0"/>
                <a:cs typeface="Arial" panose="020B0604020202020204" pitchFamily="34" charset="0"/>
                <a:hlinkClick r:id="rId2"/>
              </a:rPr>
              <a:t>https://arxiv.org/abs/2311.01933</a:t>
            </a:r>
            <a:endParaRPr lang="en-AU" sz="1200" dirty="0">
              <a:latin typeface="Arial" panose="020B0604020202020204" pitchFamily="34" charset="0"/>
              <a:cs typeface="Arial" panose="020B0604020202020204" pitchFamily="34" charset="0"/>
            </a:endParaRPr>
          </a:p>
          <a:p>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462615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2963</TotalTime>
  <Words>1984</Words>
  <Application>Microsoft Office PowerPoint</Application>
  <PresentationFormat>Widescreen</PresentationFormat>
  <Paragraphs>183</Paragraphs>
  <Slides>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Gill Sans MT</vt:lpstr>
      <vt:lpstr>Gallery</vt:lpstr>
      <vt:lpstr>Combining Full Bayesian Inference With Prior-fitted Networks For Time Series Forecasting</vt:lpstr>
      <vt:lpstr>What Is Prior-fitted Network &amp; Why It Matters?</vt:lpstr>
      <vt:lpstr>PowerPoint Presentation</vt:lpstr>
      <vt:lpstr>PowerPoint Presentation</vt:lpstr>
      <vt:lpstr>PowerPoint Presentation</vt:lpstr>
      <vt:lpstr>PowerPoint Presentation</vt:lpstr>
      <vt:lpstr>PowerPoint Presentation</vt:lpstr>
      <vt:lpstr>Reference 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Che-Yu Wu</dc:creator>
  <cp:lastModifiedBy>Che-Yu Wu</cp:lastModifiedBy>
  <cp:revision>5</cp:revision>
  <dcterms:created xsi:type="dcterms:W3CDTF">2025-10-27T12:06:38Z</dcterms:created>
  <dcterms:modified xsi:type="dcterms:W3CDTF">2025-11-06T22:03:16Z</dcterms:modified>
</cp:coreProperties>
</file>